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lacial Indifference" charset="1" panose="00000000000000000000"/>
      <p:regular r:id="rId11"/>
    </p:embeddedFont>
    <p:embeddedFont>
      <p:font typeface="Canva Sans" charset="1" panose="020B0503030501040103"/>
      <p:regular r:id="rId12"/>
    </p:embeddedFont>
    <p:embeddedFont>
      <p:font typeface="Times New Roman MT" charset="1" panose="020305020704050203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9AED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5763" y="202266"/>
            <a:ext cx="108364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B10 - </a:t>
            </a:r>
            <a:r>
              <a:rPr lang="en-US" sz="33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From Chaos to Clarity: A Lightweight Support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82113" y="4061488"/>
            <a:ext cx="352377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name - 444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05208" y="3046151"/>
            <a:ext cx="447758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Hackathon – IIT Bhilai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C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41303" y="1864460"/>
            <a:ext cx="3405394" cy="889659"/>
          </a:xfrm>
          <a:custGeom>
            <a:avLst/>
            <a:gdLst/>
            <a:ahLst/>
            <a:cxnLst/>
            <a:rect r="r" b="b" t="t" l="l"/>
            <a:pathLst>
              <a:path h="889659" w="3405394">
                <a:moveTo>
                  <a:pt x="0" y="0"/>
                </a:moveTo>
                <a:lnTo>
                  <a:pt x="3405394" y="0"/>
                </a:lnTo>
                <a:lnTo>
                  <a:pt x="3405394" y="889659"/>
                </a:lnTo>
                <a:lnTo>
                  <a:pt x="0" y="889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3750" y="3399865"/>
            <a:ext cx="1203029" cy="3104591"/>
          </a:xfrm>
          <a:custGeom>
            <a:avLst/>
            <a:gdLst/>
            <a:ahLst/>
            <a:cxnLst/>
            <a:rect r="r" b="b" t="t" l="l"/>
            <a:pathLst>
              <a:path h="3104591" w="1203029">
                <a:moveTo>
                  <a:pt x="0" y="0"/>
                </a:moveTo>
                <a:lnTo>
                  <a:pt x="1203029" y="0"/>
                </a:lnTo>
                <a:lnTo>
                  <a:pt x="1203029" y="3104590"/>
                </a:lnTo>
                <a:lnTo>
                  <a:pt x="0" y="3104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692313">
            <a:off x="7598185" y="6810507"/>
            <a:ext cx="3405394" cy="889659"/>
          </a:xfrm>
          <a:custGeom>
            <a:avLst/>
            <a:gdLst/>
            <a:ahLst/>
            <a:cxnLst/>
            <a:rect r="r" b="b" t="t" l="l"/>
            <a:pathLst>
              <a:path h="889659" w="3405394">
                <a:moveTo>
                  <a:pt x="0" y="0"/>
                </a:moveTo>
                <a:lnTo>
                  <a:pt x="3405394" y="0"/>
                </a:lnTo>
                <a:lnTo>
                  <a:pt x="3405394" y="889659"/>
                </a:lnTo>
                <a:lnTo>
                  <a:pt x="0" y="889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9077" y="4956746"/>
            <a:ext cx="3016434" cy="1395101"/>
          </a:xfrm>
          <a:custGeom>
            <a:avLst/>
            <a:gdLst/>
            <a:ahLst/>
            <a:cxnLst/>
            <a:rect r="r" b="b" t="t" l="l"/>
            <a:pathLst>
              <a:path h="1395101" w="3016434">
                <a:moveTo>
                  <a:pt x="0" y="0"/>
                </a:moveTo>
                <a:lnTo>
                  <a:pt x="3016434" y="0"/>
                </a:lnTo>
                <a:lnTo>
                  <a:pt x="3016434" y="1395100"/>
                </a:lnTo>
                <a:lnTo>
                  <a:pt x="0" y="1395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76822" y="7886308"/>
            <a:ext cx="2528962" cy="2516317"/>
          </a:xfrm>
          <a:custGeom>
            <a:avLst/>
            <a:gdLst/>
            <a:ahLst/>
            <a:cxnLst/>
            <a:rect r="r" b="b" t="t" l="l"/>
            <a:pathLst>
              <a:path h="2516317" w="2528962">
                <a:moveTo>
                  <a:pt x="0" y="0"/>
                </a:moveTo>
                <a:lnTo>
                  <a:pt x="2528962" y="0"/>
                </a:lnTo>
                <a:lnTo>
                  <a:pt x="2528962" y="2516317"/>
                </a:lnTo>
                <a:lnTo>
                  <a:pt x="0" y="25163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65083" y="2396093"/>
            <a:ext cx="3166186" cy="2560653"/>
          </a:xfrm>
          <a:custGeom>
            <a:avLst/>
            <a:gdLst/>
            <a:ahLst/>
            <a:cxnLst/>
            <a:rect r="r" b="b" t="t" l="l"/>
            <a:pathLst>
              <a:path h="2560653" w="3166186">
                <a:moveTo>
                  <a:pt x="0" y="0"/>
                </a:moveTo>
                <a:lnTo>
                  <a:pt x="3166187" y="0"/>
                </a:lnTo>
                <a:lnTo>
                  <a:pt x="3166187" y="2560653"/>
                </a:lnTo>
                <a:lnTo>
                  <a:pt x="0" y="2560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18536" y="3136699"/>
            <a:ext cx="2375215" cy="2706797"/>
          </a:xfrm>
          <a:custGeom>
            <a:avLst/>
            <a:gdLst/>
            <a:ahLst/>
            <a:cxnLst/>
            <a:rect r="r" b="b" t="t" l="l"/>
            <a:pathLst>
              <a:path h="2706797" w="2375215">
                <a:moveTo>
                  <a:pt x="0" y="0"/>
                </a:moveTo>
                <a:lnTo>
                  <a:pt x="2375214" y="0"/>
                </a:lnTo>
                <a:lnTo>
                  <a:pt x="2375214" y="2706797"/>
                </a:lnTo>
                <a:lnTo>
                  <a:pt x="0" y="27067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96779" y="8133958"/>
            <a:ext cx="1549792" cy="1549792"/>
          </a:xfrm>
          <a:custGeom>
            <a:avLst/>
            <a:gdLst/>
            <a:ahLst/>
            <a:cxnLst/>
            <a:rect r="r" b="b" t="t" l="l"/>
            <a:pathLst>
              <a:path h="1549792" w="1549792">
                <a:moveTo>
                  <a:pt x="0" y="0"/>
                </a:moveTo>
                <a:lnTo>
                  <a:pt x="1549792" y="0"/>
                </a:lnTo>
                <a:lnTo>
                  <a:pt x="1549792" y="1549792"/>
                </a:lnTo>
                <a:lnTo>
                  <a:pt x="0" y="15497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2166" y="1525438"/>
            <a:ext cx="39502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faces an issue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9505" y="2242615"/>
            <a:ext cx="367557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Login not working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83639" y="1540927"/>
            <a:ext cx="537483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Issue Reported Informally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03097" y="2173729"/>
            <a:ext cx="500634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Message • Email • Verbal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2034" y="6792203"/>
            <a:ext cx="406646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Central Tracking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62034" y="7429743"/>
            <a:ext cx="43186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ticket • No record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2586" y="6792203"/>
            <a:ext cx="29494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Ownership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3167" y="7305918"/>
            <a:ext cx="60481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“Someone else will handle it”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A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253" y="1861260"/>
            <a:ext cx="10526806" cy="2506756"/>
            <a:chOff x="0" y="0"/>
            <a:chExt cx="2772492" cy="660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2492" cy="660216"/>
            </a:xfrm>
            <a:custGeom>
              <a:avLst/>
              <a:gdLst/>
              <a:ahLst/>
              <a:cxnLst/>
              <a:rect r="r" b="b" t="t" l="l"/>
              <a:pathLst>
                <a:path h="660216" w="2772492">
                  <a:moveTo>
                    <a:pt x="2569292" y="0"/>
                  </a:moveTo>
                  <a:cubicBezTo>
                    <a:pt x="2681516" y="0"/>
                    <a:pt x="2772492" y="147794"/>
                    <a:pt x="2772492" y="330108"/>
                  </a:cubicBezTo>
                  <a:cubicBezTo>
                    <a:pt x="2772492" y="512421"/>
                    <a:pt x="2681516" y="660216"/>
                    <a:pt x="2569292" y="660216"/>
                  </a:cubicBezTo>
                  <a:lnTo>
                    <a:pt x="203200" y="660216"/>
                  </a:lnTo>
                  <a:cubicBezTo>
                    <a:pt x="90976" y="660216"/>
                    <a:pt x="0" y="512421"/>
                    <a:pt x="0" y="330108"/>
                  </a:cubicBezTo>
                  <a:cubicBezTo>
                    <a:pt x="0" y="14779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68AC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72492" cy="707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30268" y="1325656"/>
            <a:ext cx="2876431" cy="3467100"/>
            <a:chOff x="0" y="0"/>
            <a:chExt cx="757579" cy="913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7579" cy="913146"/>
            </a:xfrm>
            <a:custGeom>
              <a:avLst/>
              <a:gdLst/>
              <a:ahLst/>
              <a:cxnLst/>
              <a:rect r="r" b="b" t="t" l="l"/>
              <a:pathLst>
                <a:path h="913146" w="757579">
                  <a:moveTo>
                    <a:pt x="59755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53126"/>
                  </a:lnTo>
                  <a:lnTo>
                    <a:pt x="160020" y="913146"/>
                  </a:lnTo>
                  <a:lnTo>
                    <a:pt x="597559" y="913146"/>
                  </a:lnTo>
                  <a:lnTo>
                    <a:pt x="757579" y="753126"/>
                  </a:lnTo>
                  <a:lnTo>
                    <a:pt x="757579" y="160020"/>
                  </a:lnTo>
                  <a:lnTo>
                    <a:pt x="597559" y="0"/>
                  </a:lnTo>
                  <a:close/>
                </a:path>
              </a:pathLst>
            </a:custGeom>
            <a:solidFill>
              <a:srgbClr val="D7DB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63500" y="15875"/>
              <a:ext cx="630579" cy="833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73774" y="8894445"/>
            <a:ext cx="11456495" cy="771525"/>
            <a:chOff x="0" y="0"/>
            <a:chExt cx="3017348" cy="20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17348" cy="203200"/>
            </a:xfrm>
            <a:custGeom>
              <a:avLst/>
              <a:gdLst/>
              <a:ahLst/>
              <a:cxnLst/>
              <a:rect r="r" b="b" t="t" l="l"/>
              <a:pathLst>
                <a:path h="203200" w="3017348">
                  <a:moveTo>
                    <a:pt x="3017348" y="0"/>
                  </a:moveTo>
                  <a:lnTo>
                    <a:pt x="0" y="0"/>
                  </a:lnTo>
                  <a:lnTo>
                    <a:pt x="101600" y="101600"/>
                  </a:lnTo>
                  <a:lnTo>
                    <a:pt x="0" y="203200"/>
                  </a:lnTo>
                  <a:lnTo>
                    <a:pt x="3017348" y="203200"/>
                  </a:lnTo>
                  <a:lnTo>
                    <a:pt x="2915748" y="101600"/>
                  </a:lnTo>
                  <a:lnTo>
                    <a:pt x="3017348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88900" y="-47625"/>
              <a:ext cx="2839548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4253" y="4987141"/>
            <a:ext cx="9518276" cy="2148168"/>
            <a:chOff x="0" y="0"/>
            <a:chExt cx="2506871" cy="5657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06871" cy="565773"/>
            </a:xfrm>
            <a:custGeom>
              <a:avLst/>
              <a:gdLst/>
              <a:ahLst/>
              <a:cxnLst/>
              <a:rect r="r" b="b" t="t" l="l"/>
              <a:pathLst>
                <a:path h="565773" w="2506871">
                  <a:moveTo>
                    <a:pt x="2303671" y="0"/>
                  </a:moveTo>
                  <a:cubicBezTo>
                    <a:pt x="2415895" y="0"/>
                    <a:pt x="2506871" y="126653"/>
                    <a:pt x="2506871" y="282886"/>
                  </a:cubicBezTo>
                  <a:cubicBezTo>
                    <a:pt x="2506871" y="439120"/>
                    <a:pt x="2415895" y="565773"/>
                    <a:pt x="2303671" y="565773"/>
                  </a:cubicBezTo>
                  <a:lnTo>
                    <a:pt x="203200" y="565773"/>
                  </a:lnTo>
                  <a:cubicBezTo>
                    <a:pt x="90976" y="565773"/>
                    <a:pt x="0" y="439120"/>
                    <a:pt x="0" y="282886"/>
                  </a:cubicBezTo>
                  <a:cubicBezTo>
                    <a:pt x="0" y="1266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68AC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06871" cy="613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60381" y="5143500"/>
            <a:ext cx="3067139" cy="2975124"/>
          </a:xfrm>
          <a:custGeom>
            <a:avLst/>
            <a:gdLst/>
            <a:ahLst/>
            <a:cxnLst/>
            <a:rect r="r" b="b" t="t" l="l"/>
            <a:pathLst>
              <a:path h="2975124" w="3067139">
                <a:moveTo>
                  <a:pt x="0" y="0"/>
                </a:moveTo>
                <a:lnTo>
                  <a:pt x="3067138" y="0"/>
                </a:lnTo>
                <a:lnTo>
                  <a:pt x="3067138" y="2975124"/>
                </a:lnTo>
                <a:lnTo>
                  <a:pt x="0" y="2975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6700" y="1835561"/>
            <a:ext cx="1114312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requests arrive from everywhere — messages, emails, and conversations.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They are discussed, forwarded, and promised… but never properly tracked.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67488" y="705167"/>
            <a:ext cx="263925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problem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30268" y="1590955"/>
            <a:ext cx="287643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Issues have: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identity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ownership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visibility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80728" y="8970827"/>
            <a:ext cx="12189392" cy="69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7"/>
              </a:lnSpc>
              <a:spcBef>
                <a:spcPct val="0"/>
              </a:spcBef>
            </a:pPr>
            <a:r>
              <a:rPr lang="en-US" sz="365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 issue that is not tracked is an issue that is not solved.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0679" y="5076825"/>
            <a:ext cx="777332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a result, problems are forgotten, users follow up repeatedly, and support teams struggle to keep track.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38752" y="-881903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5AD9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879443"/>
            <a:ext cx="4458821" cy="2749924"/>
            <a:chOff x="0" y="0"/>
            <a:chExt cx="1174340" cy="7242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4340" cy="724260"/>
            </a:xfrm>
            <a:custGeom>
              <a:avLst/>
              <a:gdLst/>
              <a:ahLst/>
              <a:cxnLst/>
              <a:rect r="r" b="b" t="t" l="l"/>
              <a:pathLst>
                <a:path h="724260" w="1174340">
                  <a:moveTo>
                    <a:pt x="88552" y="0"/>
                  </a:moveTo>
                  <a:lnTo>
                    <a:pt x="1085788" y="0"/>
                  </a:lnTo>
                  <a:cubicBezTo>
                    <a:pt x="1134693" y="0"/>
                    <a:pt x="1174340" y="39646"/>
                    <a:pt x="1174340" y="88552"/>
                  </a:cubicBezTo>
                  <a:lnTo>
                    <a:pt x="1174340" y="635708"/>
                  </a:lnTo>
                  <a:cubicBezTo>
                    <a:pt x="1174340" y="659193"/>
                    <a:pt x="1165010" y="681717"/>
                    <a:pt x="1148403" y="698323"/>
                  </a:cubicBezTo>
                  <a:cubicBezTo>
                    <a:pt x="1131797" y="714930"/>
                    <a:pt x="1109273" y="724260"/>
                    <a:pt x="1085788" y="724260"/>
                  </a:cubicBezTo>
                  <a:lnTo>
                    <a:pt x="88552" y="724260"/>
                  </a:lnTo>
                  <a:cubicBezTo>
                    <a:pt x="65067" y="724260"/>
                    <a:pt x="42543" y="714930"/>
                    <a:pt x="25936" y="698323"/>
                  </a:cubicBezTo>
                  <a:cubicBezTo>
                    <a:pt x="9330" y="681717"/>
                    <a:pt x="0" y="659193"/>
                    <a:pt x="0" y="635708"/>
                  </a:cubicBezTo>
                  <a:lnTo>
                    <a:pt x="0" y="88552"/>
                  </a:lnTo>
                  <a:cubicBezTo>
                    <a:pt x="0" y="65067"/>
                    <a:pt x="9330" y="42543"/>
                    <a:pt x="25936" y="25936"/>
                  </a:cubicBezTo>
                  <a:cubicBezTo>
                    <a:pt x="42543" y="9330"/>
                    <a:pt x="65067" y="0"/>
                    <a:pt x="88552" y="0"/>
                  </a:cubicBezTo>
                  <a:close/>
                </a:path>
              </a:pathLst>
            </a:custGeom>
            <a:solidFill>
              <a:srgbClr val="D5AD9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74340" cy="771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19641" y="4543266"/>
            <a:ext cx="6032155" cy="2565344"/>
            <a:chOff x="0" y="0"/>
            <a:chExt cx="1588716" cy="6756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8716" cy="675646"/>
            </a:xfrm>
            <a:custGeom>
              <a:avLst/>
              <a:gdLst/>
              <a:ahLst/>
              <a:cxnLst/>
              <a:rect r="r" b="b" t="t" l="l"/>
              <a:pathLst>
                <a:path h="675646" w="1588716">
                  <a:moveTo>
                    <a:pt x="65456" y="0"/>
                  </a:moveTo>
                  <a:lnTo>
                    <a:pt x="1523260" y="0"/>
                  </a:lnTo>
                  <a:cubicBezTo>
                    <a:pt x="1559410" y="0"/>
                    <a:pt x="1588716" y="29305"/>
                    <a:pt x="1588716" y="65456"/>
                  </a:cubicBezTo>
                  <a:lnTo>
                    <a:pt x="1588716" y="610191"/>
                  </a:lnTo>
                  <a:cubicBezTo>
                    <a:pt x="1588716" y="627551"/>
                    <a:pt x="1581819" y="644199"/>
                    <a:pt x="1569544" y="656475"/>
                  </a:cubicBezTo>
                  <a:cubicBezTo>
                    <a:pt x="1557269" y="668750"/>
                    <a:pt x="1540620" y="675646"/>
                    <a:pt x="1523260" y="675646"/>
                  </a:cubicBezTo>
                  <a:lnTo>
                    <a:pt x="65456" y="675646"/>
                  </a:lnTo>
                  <a:cubicBezTo>
                    <a:pt x="48096" y="675646"/>
                    <a:pt x="31447" y="668750"/>
                    <a:pt x="19171" y="656475"/>
                  </a:cubicBezTo>
                  <a:cubicBezTo>
                    <a:pt x="6896" y="644199"/>
                    <a:pt x="0" y="627551"/>
                    <a:pt x="0" y="610191"/>
                  </a:cubicBezTo>
                  <a:lnTo>
                    <a:pt x="0" y="65456"/>
                  </a:lnTo>
                  <a:cubicBezTo>
                    <a:pt x="0" y="48096"/>
                    <a:pt x="6896" y="31447"/>
                    <a:pt x="19171" y="19171"/>
                  </a:cubicBezTo>
                  <a:cubicBezTo>
                    <a:pt x="31447" y="6896"/>
                    <a:pt x="48096" y="0"/>
                    <a:pt x="65456" y="0"/>
                  </a:cubicBezTo>
                  <a:close/>
                </a:path>
              </a:pathLst>
            </a:custGeom>
            <a:solidFill>
              <a:srgbClr val="D5AD9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88716" cy="72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7727" y="1028700"/>
            <a:ext cx="6957652" cy="919443"/>
            <a:chOff x="0" y="0"/>
            <a:chExt cx="1832468" cy="2421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2468" cy="242158"/>
            </a:xfrm>
            <a:custGeom>
              <a:avLst/>
              <a:gdLst/>
              <a:ahLst/>
              <a:cxnLst/>
              <a:rect r="r" b="b" t="t" l="l"/>
              <a:pathLst>
                <a:path h="242158" w="1832468">
                  <a:moveTo>
                    <a:pt x="0" y="0"/>
                  </a:moveTo>
                  <a:lnTo>
                    <a:pt x="1832468" y="0"/>
                  </a:lnTo>
                  <a:lnTo>
                    <a:pt x="1832468" y="242158"/>
                  </a:lnTo>
                  <a:lnTo>
                    <a:pt x="0" y="242158"/>
                  </a:lnTo>
                  <a:close/>
                </a:path>
              </a:pathLst>
            </a:custGeom>
            <a:solidFill>
              <a:srgbClr val="468AC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832468" cy="289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37237" y="7403885"/>
            <a:ext cx="6044565" cy="2482187"/>
            <a:chOff x="0" y="0"/>
            <a:chExt cx="1591984" cy="6537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1984" cy="653745"/>
            </a:xfrm>
            <a:custGeom>
              <a:avLst/>
              <a:gdLst/>
              <a:ahLst/>
              <a:cxnLst/>
              <a:rect r="r" b="b" t="t" l="l"/>
              <a:pathLst>
                <a:path h="653745" w="1591984">
                  <a:moveTo>
                    <a:pt x="65321" y="0"/>
                  </a:moveTo>
                  <a:lnTo>
                    <a:pt x="1526663" y="0"/>
                  </a:lnTo>
                  <a:cubicBezTo>
                    <a:pt x="1543987" y="0"/>
                    <a:pt x="1560602" y="6882"/>
                    <a:pt x="1572852" y="19132"/>
                  </a:cubicBezTo>
                  <a:cubicBezTo>
                    <a:pt x="1585102" y="31382"/>
                    <a:pt x="1591984" y="47997"/>
                    <a:pt x="1591984" y="65321"/>
                  </a:cubicBezTo>
                  <a:lnTo>
                    <a:pt x="1591984" y="588424"/>
                  </a:lnTo>
                  <a:cubicBezTo>
                    <a:pt x="1591984" y="624499"/>
                    <a:pt x="1562739" y="653745"/>
                    <a:pt x="1526663" y="653745"/>
                  </a:cubicBezTo>
                  <a:lnTo>
                    <a:pt x="65321" y="653745"/>
                  </a:lnTo>
                  <a:cubicBezTo>
                    <a:pt x="47997" y="653745"/>
                    <a:pt x="31382" y="646863"/>
                    <a:pt x="19132" y="634613"/>
                  </a:cubicBezTo>
                  <a:cubicBezTo>
                    <a:pt x="6882" y="622363"/>
                    <a:pt x="0" y="605748"/>
                    <a:pt x="0" y="588424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D5AD9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591984" cy="701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3258" y="8166847"/>
            <a:ext cx="8234643" cy="1091453"/>
            <a:chOff x="0" y="0"/>
            <a:chExt cx="2168795" cy="2874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8795" cy="287461"/>
            </a:xfrm>
            <a:custGeom>
              <a:avLst/>
              <a:gdLst/>
              <a:ahLst/>
              <a:cxnLst/>
              <a:rect r="r" b="b" t="t" l="l"/>
              <a:pathLst>
                <a:path h="287461" w="2168795">
                  <a:moveTo>
                    <a:pt x="47948" y="0"/>
                  </a:moveTo>
                  <a:lnTo>
                    <a:pt x="2120846" y="0"/>
                  </a:lnTo>
                  <a:cubicBezTo>
                    <a:pt x="2147327" y="0"/>
                    <a:pt x="2168795" y="21467"/>
                    <a:pt x="2168795" y="47948"/>
                  </a:cubicBezTo>
                  <a:lnTo>
                    <a:pt x="2168795" y="239512"/>
                  </a:lnTo>
                  <a:cubicBezTo>
                    <a:pt x="2168795" y="252229"/>
                    <a:pt x="2163743" y="264425"/>
                    <a:pt x="2154751" y="273417"/>
                  </a:cubicBezTo>
                  <a:cubicBezTo>
                    <a:pt x="2145759" y="282409"/>
                    <a:pt x="2133563" y="287461"/>
                    <a:pt x="2120846" y="287461"/>
                  </a:cubicBezTo>
                  <a:lnTo>
                    <a:pt x="47948" y="287461"/>
                  </a:lnTo>
                  <a:cubicBezTo>
                    <a:pt x="21467" y="287461"/>
                    <a:pt x="0" y="265994"/>
                    <a:pt x="0" y="239512"/>
                  </a:cubicBezTo>
                  <a:lnTo>
                    <a:pt x="0" y="47948"/>
                  </a:lnTo>
                  <a:cubicBezTo>
                    <a:pt x="0" y="35232"/>
                    <a:pt x="5052" y="23036"/>
                    <a:pt x="14044" y="14044"/>
                  </a:cubicBezTo>
                  <a:cubicBezTo>
                    <a:pt x="23036" y="5052"/>
                    <a:pt x="35232" y="0"/>
                    <a:pt x="47948" y="0"/>
                  </a:cubicBezTo>
                  <a:close/>
                </a:path>
              </a:pathLst>
            </a:custGeom>
            <a:solidFill>
              <a:srgbClr val="D5AD9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68795" cy="335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69016" y="970630"/>
            <a:ext cx="3086100" cy="1035582"/>
            <a:chOff x="0" y="0"/>
            <a:chExt cx="812800" cy="2727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272746"/>
            </a:xfrm>
            <a:custGeom>
              <a:avLst/>
              <a:gdLst/>
              <a:ahLst/>
              <a:cxnLst/>
              <a:rect r="r" b="b" t="t" l="l"/>
              <a:pathLst>
                <a:path h="272746" w="812800">
                  <a:moveTo>
                    <a:pt x="609600" y="0"/>
                  </a:moveTo>
                  <a:cubicBezTo>
                    <a:pt x="721824" y="0"/>
                    <a:pt x="812800" y="61056"/>
                    <a:pt x="812800" y="136373"/>
                  </a:cubicBezTo>
                  <a:cubicBezTo>
                    <a:pt x="812800" y="211690"/>
                    <a:pt x="721824" y="272746"/>
                    <a:pt x="609600" y="272746"/>
                  </a:cubicBezTo>
                  <a:lnTo>
                    <a:pt x="203200" y="272746"/>
                  </a:lnTo>
                  <a:cubicBezTo>
                    <a:pt x="90976" y="272746"/>
                    <a:pt x="0" y="211690"/>
                    <a:pt x="0" y="136373"/>
                  </a:cubicBezTo>
                  <a:cubicBezTo>
                    <a:pt x="0" y="6105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12800" cy="320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068994" y="5134040"/>
            <a:ext cx="2150011" cy="2559537"/>
          </a:xfrm>
          <a:custGeom>
            <a:avLst/>
            <a:gdLst/>
            <a:ahLst/>
            <a:cxnLst/>
            <a:rect r="r" b="b" t="t" l="l"/>
            <a:pathLst>
              <a:path h="2559537" w="2150011">
                <a:moveTo>
                  <a:pt x="0" y="0"/>
                </a:moveTo>
                <a:lnTo>
                  <a:pt x="2150012" y="0"/>
                </a:lnTo>
                <a:lnTo>
                  <a:pt x="2150012" y="2559537"/>
                </a:lnTo>
                <a:lnTo>
                  <a:pt x="0" y="25595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1680" y="1122026"/>
            <a:ext cx="673369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 Rule: One ticket , One Agent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72743" y="3667601"/>
            <a:ext cx="57559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Every Ticket Has Ownership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19641" y="4892245"/>
            <a:ext cx="586216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ticket is: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Assigned to one agent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Visible to everyone involved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37237" y="7562691"/>
            <a:ext cx="604456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removes: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“Someone else is handling it”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Confusion and blame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5393" y="4080379"/>
            <a:ext cx="86325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Communication Lives Inside the Ticket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7727" y="5076825"/>
            <a:ext cx="404395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scattered chats.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Updates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Clarifications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Fix notes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3258" y="8321446"/>
            <a:ext cx="81505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Everything stays attached to the ticket.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18392" y="1164889"/>
            <a:ext cx="25873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80035"/>
            <a:ext cx="18288000" cy="10567035"/>
          </a:xfrm>
          <a:custGeom>
            <a:avLst/>
            <a:gdLst/>
            <a:ahLst/>
            <a:cxnLst/>
            <a:rect r="r" b="b" t="t" l="l"/>
            <a:pathLst>
              <a:path h="10567035" w="18288000">
                <a:moveTo>
                  <a:pt x="0" y="0"/>
                </a:moveTo>
                <a:lnTo>
                  <a:pt x="18288000" y="0"/>
                </a:lnTo>
                <a:lnTo>
                  <a:pt x="18288000" y="10567035"/>
                </a:lnTo>
                <a:lnTo>
                  <a:pt x="0" y="10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25" r="0" b="-132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DAHADavceJA</dc:identifier>
  <dcterms:modified xsi:type="dcterms:W3CDTF">2011-08-01T06:04:30Z</dcterms:modified>
  <cp:revision>1</cp:revision>
  <dc:title>From Chaos to Clarity: A Lightweight Support System</dc:title>
</cp:coreProperties>
</file>